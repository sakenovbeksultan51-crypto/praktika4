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b08a5b0b9c495a" /><Relationship Type="http://schemas.openxmlformats.org/officeDocument/2006/relationships/extended-properties" Target="/docProps/app.xml" Id="R5f74d153e1fb4a2e" /><Relationship Type="http://schemas.openxmlformats.org/officeDocument/2006/relationships/officeDocument" Target="/ppt/presentation.xml" Id="Rec124e16bd0041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c36bf09abd4e5d"/>
  </p:sldMasterIdLst>
  <p:notesMasterIdLst>
    <p:notesMasterId xmlns:r="http://schemas.openxmlformats.org/officeDocument/2006/relationships" r:id="Rbc8738cc7bbc4d55"/>
  </p:notesMasterIdLst>
  <p:sldIdLst>
    <p:sldId xmlns:r="http://schemas.openxmlformats.org/officeDocument/2006/relationships" id="256" r:id="Raea6824e18874dc6"/>
    <p:sldId xmlns:r="http://schemas.openxmlformats.org/officeDocument/2006/relationships" id="257" r:id="Rfc67d51c67b544cd"/>
    <p:sldId xmlns:r="http://schemas.openxmlformats.org/officeDocument/2006/relationships" id="258" r:id="R3955095cf5254b74"/>
    <p:sldId xmlns:r="http://schemas.openxmlformats.org/officeDocument/2006/relationships" id="259" r:id="Re6311262947c48fe"/>
    <p:sldId xmlns:r="http://schemas.openxmlformats.org/officeDocument/2006/relationships" id="260" r:id="R08523ac0c7e84745"/>
    <p:sldId xmlns:r="http://schemas.openxmlformats.org/officeDocument/2006/relationships" id="261" r:id="Rb90176526ede4790"/>
    <p:sldId xmlns:r="http://schemas.openxmlformats.org/officeDocument/2006/relationships" id="262" r:id="R7649e422325443bd"/>
    <p:sldId xmlns:r="http://schemas.openxmlformats.org/officeDocument/2006/relationships" id="263" r:id="R9f3dfa5079d141c8"/>
    <p:sldId xmlns:r="http://schemas.openxmlformats.org/officeDocument/2006/relationships" id="264" r:id="R5d75d9ccbbef469d"/>
    <p:sldId xmlns:r="http://schemas.openxmlformats.org/officeDocument/2006/relationships" id="265" r:id="Rc0aea678afee41e3"/>
    <p:sldId xmlns:r="http://schemas.openxmlformats.org/officeDocument/2006/relationships" id="266" r:id="R0f36fd7655154a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0f8d0ec4244d5e" /><Relationship Type="http://schemas.openxmlformats.org/officeDocument/2006/relationships/slideMaster" Target="/ppt/slideMasters/slideMaster1.xml" Id="Rf6c36bf09abd4e5d" /><Relationship Type="http://schemas.openxmlformats.org/officeDocument/2006/relationships/notesMaster" Target="/ppt/notesMasters/notesMaster1.xml" Id="Rbc8738cc7bbc4d55" /><Relationship Type="http://schemas.openxmlformats.org/officeDocument/2006/relationships/presProps" Target="/ppt/presProps.xml" Id="Ree906b04c17e47ab" /><Relationship Type="http://schemas.openxmlformats.org/officeDocument/2006/relationships/tableStyles" Target="/ppt/tableStyles.xml" Id="R3d405eb0633e442a" /><Relationship Type="http://schemas.openxmlformats.org/officeDocument/2006/relationships/slide" Target="/ppt/slides/slide1.xml" Id="Raea6824e18874dc6" /><Relationship Type="http://schemas.openxmlformats.org/officeDocument/2006/relationships/slide" Target="/ppt/slides/slide2.xml" Id="Rfc67d51c67b544cd" /><Relationship Type="http://schemas.openxmlformats.org/officeDocument/2006/relationships/slide" Target="/ppt/slides/slide3.xml" Id="R3955095cf5254b74" /><Relationship Type="http://schemas.openxmlformats.org/officeDocument/2006/relationships/slide" Target="/ppt/slides/slide4.xml" Id="Re6311262947c48fe" /><Relationship Type="http://schemas.openxmlformats.org/officeDocument/2006/relationships/slide" Target="/ppt/slides/slide5.xml" Id="R08523ac0c7e84745" /><Relationship Type="http://schemas.openxmlformats.org/officeDocument/2006/relationships/slide" Target="/ppt/slides/slide6.xml" Id="Rb90176526ede4790" /><Relationship Type="http://schemas.openxmlformats.org/officeDocument/2006/relationships/slide" Target="/ppt/slides/slide7.xml" Id="R7649e422325443bd" /><Relationship Type="http://schemas.openxmlformats.org/officeDocument/2006/relationships/slide" Target="/ppt/slides/slide8.xml" Id="R9f3dfa5079d141c8" /><Relationship Type="http://schemas.openxmlformats.org/officeDocument/2006/relationships/slide" Target="/ppt/slides/slide9.xml" Id="R5d75d9ccbbef469d" /><Relationship Type="http://schemas.openxmlformats.org/officeDocument/2006/relationships/slide" Target="/ppt/slides/slide10.xml" Id="Rc0aea678afee41e3" /><Relationship Type="http://schemas.openxmlformats.org/officeDocument/2006/relationships/slide" Target="/ppt/slides/slide11.xml" Id="R0f36fd7655154a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9f0d7192714c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261ff2b0e34138" /><Relationship Type="http://schemas.openxmlformats.org/officeDocument/2006/relationships/notesMaster" Target="/ppt/notesMasters/notesMaster1.xml" Id="R43066c14613045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1030e176a84eee" /><Relationship Type="http://schemas.openxmlformats.org/officeDocument/2006/relationships/notesMaster" Target="/ppt/notesMasters/notesMaster1.xml" Id="R618dc2894d5540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31c6c1f6834a92" /><Relationship Type="http://schemas.openxmlformats.org/officeDocument/2006/relationships/notesMaster" Target="/ppt/notesMasters/notesMaster1.xml" Id="Re4c0c48d2bcb43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f7df82dc3b4e91" /><Relationship Type="http://schemas.openxmlformats.org/officeDocument/2006/relationships/notesMaster" Target="/ppt/notesMasters/notesMaster1.xml" Id="R9be68aa9fed14d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0dd69297fe4cd3" /><Relationship Type="http://schemas.openxmlformats.org/officeDocument/2006/relationships/notesMaster" Target="/ppt/notesMasters/notesMaster1.xml" Id="R1023f6392c7148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c448aa6ac4413a" /><Relationship Type="http://schemas.openxmlformats.org/officeDocument/2006/relationships/notesMaster" Target="/ppt/notesMasters/notesMaster1.xml" Id="Ref254c65fd924f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42668a75374e6a" /><Relationship Type="http://schemas.openxmlformats.org/officeDocument/2006/relationships/notesMaster" Target="/ppt/notesMasters/notesMaster1.xml" Id="R96d539885f014f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92ae8ece564506" /><Relationship Type="http://schemas.openxmlformats.org/officeDocument/2006/relationships/notesMaster" Target="/ppt/notesMasters/notesMaster1.xml" Id="R80e6e7ab573d4f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870e55c2884bc9" /><Relationship Type="http://schemas.openxmlformats.org/officeDocument/2006/relationships/notesMaster" Target="/ppt/notesMasters/notesMaster1.xml" Id="R13c58f1a4e7c44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11276507b44a03" /><Relationship Type="http://schemas.openxmlformats.org/officeDocument/2006/relationships/notesMaster" Target="/ppt/notesMasters/notesMaster1.xml" Id="R90bbb4e4ad8b4d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39052804544e06" /><Relationship Type="http://schemas.openxmlformats.org/officeDocument/2006/relationships/notesMaster" Target="/ppt/notesMasters/notesMaster1.xml" Id="R3cf6956c48a748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Бұл ағаш үш стратегиясы бар кіріспе тапсырмадан бөлек. A және D–G — MAX, B мен C — MIN, H–O — терминалдық түйіндер. Іздеу түбірден төмен түседі, мәндер рекурсиядан қайтқанда жоғары қарай есептеледі.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35e01cc2d45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645ff15a4b4f36" /><Relationship Type="http://schemas.openxmlformats.org/officeDocument/2006/relationships/slideLayout" Target="/ppt/slideLayouts/slideLayout1.xml" Id="R0a3251ce0b2e4c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3251ce0b2e4c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340ea238d47c5" /><Relationship Type="http://schemas.openxmlformats.org/officeDocument/2006/relationships/image" Target="/ppt/media/image.jpeg" Id="R8622ca4e70684ab1" /><Relationship Type="http://schemas.openxmlformats.org/officeDocument/2006/relationships/image" Target="/ppt/media/image2.jpeg" Id="Rdc835450765248e9" /><Relationship Type="http://schemas.openxmlformats.org/officeDocument/2006/relationships/notesSlide" Target="/ppt/notesSlides/notesSlide1.xml" Id="R0077ebdc8ca84c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3ab55a74544fb" /><Relationship Type="http://schemas.openxmlformats.org/officeDocument/2006/relationships/image" Target="/ppt/media/image3.jpeg" Id="R4ed1da10cbdd4fca" /><Relationship Type="http://schemas.openxmlformats.org/officeDocument/2006/relationships/notesSlide" Target="/ppt/notesSlides/notesSlide2.xml" Id="R14245672134544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1c84e87034aa0" /><Relationship Type="http://schemas.openxmlformats.org/officeDocument/2006/relationships/image" Target="/ppt/media/image4.jpeg" Id="Rf707b27eddc241c3" /><Relationship Type="http://schemas.openxmlformats.org/officeDocument/2006/relationships/notesSlide" Target="/ppt/notesSlides/notesSlide3.xml" Id="Rf455c919827d40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14e5acaf14bd3" /><Relationship Type="http://schemas.openxmlformats.org/officeDocument/2006/relationships/image" Target="/ppt/media/image5.jpeg" Id="R717d83302f6a4f0a" /><Relationship Type="http://schemas.openxmlformats.org/officeDocument/2006/relationships/notesSlide" Target="/ppt/notesSlides/notesSlide4.xml" Id="R2bccd4320d5e46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4a9c684bb4ca5" /><Relationship Type="http://schemas.openxmlformats.org/officeDocument/2006/relationships/image" Target="/ppt/media/image6.jpeg" Id="R74bc1d23a1d64b61" /><Relationship Type="http://schemas.openxmlformats.org/officeDocument/2006/relationships/notesSlide" Target="/ppt/notesSlides/notesSlide5.xml" Id="R680ed61cd45f4d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7d0886dd540eb" /><Relationship Type="http://schemas.openxmlformats.org/officeDocument/2006/relationships/image" Target="/ppt/media/image7.jpeg" Id="Re8fce336d6b647f7" /><Relationship Type="http://schemas.openxmlformats.org/officeDocument/2006/relationships/notesSlide" Target="/ppt/notesSlides/notesSlide6.xml" Id="R72096af68b374c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90d2712cf4b31" /><Relationship Type="http://schemas.openxmlformats.org/officeDocument/2006/relationships/image" Target="/ppt/media/image8.jpeg" Id="R260c5939ca6148ce" /><Relationship Type="http://schemas.openxmlformats.org/officeDocument/2006/relationships/notesSlide" Target="/ppt/notesSlides/notesSlide7.xml" Id="R5fb0a85193da47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0770d0e1a436a" /><Relationship Type="http://schemas.openxmlformats.org/officeDocument/2006/relationships/image" Target="/ppt/media/image9.jpeg" Id="R7245696fc19346fd" /><Relationship Type="http://schemas.openxmlformats.org/officeDocument/2006/relationships/notesSlide" Target="/ppt/notesSlides/notesSlide8.xml" Id="R4605a2e6a11444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d1175ee494f2b" /><Relationship Type="http://schemas.openxmlformats.org/officeDocument/2006/relationships/image" Target="/ppt/media/image10.jpeg" Id="R677dc7306d4e455f" /><Relationship Type="http://schemas.openxmlformats.org/officeDocument/2006/relationships/notesSlide" Target="/ppt/notesSlides/notesSlide9.xml" Id="R0cb6cfd9da7945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817dfc6fd4cab" /><Relationship Type="http://schemas.openxmlformats.org/officeDocument/2006/relationships/image" Target="/ppt/media/image11.jpeg" Id="R08114ef3eff94e8b" /><Relationship Type="http://schemas.openxmlformats.org/officeDocument/2006/relationships/notesSlide" Target="/ppt/notesSlides/notesSlide10.xml" Id="R1f26a74bca9843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949ad30b74924" /><Relationship Type="http://schemas.openxmlformats.org/officeDocument/2006/relationships/image" Target="/ppt/media/image12.jpeg" Id="Rb631624c218f4483" /><Relationship Type="http://schemas.openxmlformats.org/officeDocument/2006/relationships/notesSlide" Target="/ppt/notesSlides/notesSlide11.xml" Id="R4717ce60360e41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2ca4e70684ab1"/>
          <a:stretch xmlns:a="http://schemas.openxmlformats.org/drawingml/2006/main"/>
        </p:blipFill>
        <p:spPr>
          <a:xfrm xmlns:a="http://schemas.openxmlformats.org/drawingml/2006/main">
            <a:off x="9906000" y="77391"/>
            <a:ext cx="1809750" cy="95011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F8F3F-72C0-4C6C-BB4D-A9713281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BB30E-B7DF-4127-A5E9-B2F245AA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79FF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79FF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35450765248e9"/>
          <a:stretch xmlns:a="http://schemas.openxmlformats.org/drawingml/2006/main"/>
        </p:blipFill>
        <p:spPr>
          <a:xfrm xmlns:a="http://schemas.openxmlformats.org/drawingml/2006/main">
            <a:off x="6667500" y="1447800"/>
            <a:ext cx="5048250" cy="265033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A9412-5C1D-4C8E-BAF6-B2D8A01F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ПРАКТИКА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0C990-0638-4633-A0DD-1683FDCE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9FF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9FF1"/>
                </a:solidFill>
                <a:latin typeface="Arial"/>
                <a:ea typeface="Arial"/>
                <a:cs typeface="Arial"/>
              </a:rPr>
              <a:t>Жасанды интеллект негіздері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0907F-E8DB-4E8F-9444-B71B8F0A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5EC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5ECFA"/>
                </a:solidFill>
                <a:latin typeface="Arial"/>
                <a:ea typeface="Arial"/>
                <a:cs typeface="Arial"/>
              </a:rPr>
              <a:t>Қарсылас жағдайындағы іздеу</a:t>
            </a:r>
          </a:p>
          <a:p xmlns:a="http://schemas.openxmlformats.org/drawingml/2006/main">
            <a:pPr>
              <a:defRPr sz="2400" b="0">
                <a:solidFill>
                  <a:srgbClr val="E5EC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5ECFA"/>
                </a:solidFill>
                <a:latin typeface="Arial"/>
                <a:ea typeface="Arial"/>
                <a:cs typeface="Arial"/>
              </a:rPr>
              <a:t>және ойын ағаштары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9E5F3-C674-4946-AF8F-0D81EF44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5302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5EC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5ECFA"/>
                </a:solidFill>
                <a:latin typeface="Arial"/>
                <a:ea typeface="Arial"/>
                <a:cs typeface="Arial"/>
              </a:rPr>
              <a:t>Орындаушы: Сакенов Бексұлтан</a:t>
            </a:r>
          </a:p>
          <a:p xmlns:a="http://schemas.openxmlformats.org/drawingml/2006/main">
            <a:pPr>
              <a:defRPr sz="2025" b="0">
                <a:solidFill>
                  <a:srgbClr val="E5EC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5ECFA"/>
                </a:solidFill>
                <a:latin typeface="Arial"/>
                <a:ea typeface="Arial"/>
                <a:cs typeface="Arial"/>
              </a:rPr>
              <a:t>Қабылдаушы: Тамара Кокеновна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62191-A651-49AB-AB78-2B410A2C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B9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9D2"/>
                </a:solidFill>
                <a:latin typeface="Arial"/>
                <a:ea typeface="Arial"/>
                <a:cs typeface="Arial"/>
              </a:rPr>
              <a:t>Астана, 2026</a:t>
            </a:r>
          </a:p>
        </p:txBody>
      </p:sp>
    </p:spTree>
    <p:extLst>
      <p:ext uri="{BB962C8B-B14F-4D97-AF65-F5344CB8AC3E}">
        <p14:creationId xmlns:p14="http://schemas.microsoft.com/office/powerpoint/2010/main" val="1991021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1da10cbdd4fca"/>
          <a:stretch xmlns:a="http://schemas.openxmlformats.org/drawingml/2006/main"/>
        </p:blipFill>
        <p:spPr>
          <a:xfrm xmlns:a="http://schemas.openxmlformats.org/drawingml/2006/main">
            <a:off x="9906000" y="77391"/>
            <a:ext cx="1809750" cy="95011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1B8B7-7EC3-40FE-9DC9-50C2FB35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Жұмыстың мақсаты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4D5E8-77BE-4EBF-9795-5EA8ECAE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A9C13-474E-40CD-82A5-6D53DF5D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Қай шешім</a:t>
            </a:r>
          </a:p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тиімді болады?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ADEF0-11F0-4FCC-B279-A7BA25CD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381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Жеткізу қызметтерінің бәсекесін мысалға алып, қарсыластың жауабын ескеретін таңдауды қарастырамыз.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D443A-7380-47CD-9FFB-CBC041D8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682A5-0AB0-42DE-BD04-F8A88B43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Ойын ағашындағы тиімді жүрісті табамыз.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B8B2D-A06A-4696-955E-1CF9AFA7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Alpha–Beta және Python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1CF6A-F2F8-444F-B263-FC33C04E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Өту реті шақыру санына қалай әсер ететінін салыстырамыз.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D7C97-6764-410B-B466-5A04DA1F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291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Бағалау функциясы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CDB87-1297-4BC1-B738-96C70E6E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Тереңдігі шектелген іздеуде күйлерді салмақтар арқылы бағалаймыз.</a:t>
            </a:r>
          </a:p>
        </p:txBody>
      </p:sp>
    </p:spTree>
    <p:extLst>
      <p:ext uri="{BB962C8B-B14F-4D97-AF65-F5344CB8AC3E}">
        <p14:creationId xmlns:p14="http://schemas.microsoft.com/office/powerpoint/2010/main" val="1420810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7b27eddc241c3"/>
          <a:stretch xmlns:a="http://schemas.openxmlformats.org/drawingml/2006/main"/>
        </p:blipFill>
        <p:spPr>
          <a:xfrm xmlns:a="http://schemas.openxmlformats.org/drawingml/2006/main">
            <a:off x="9906000" y="77391"/>
            <a:ext cx="1809750" cy="95011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A0A83-C8F1-4D45-BD5C-2E9A26BC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Бәсеке жағдайындағы алғашқы таңдау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B889A-92EF-4072-ACAC-F6F430A7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66675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286000"/>
                <a:gridCol w="1619250"/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Стратегия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Пайда, млн ₸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Ең азы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A: төмен баға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8, 6, 4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B: стандартты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3, 7, 5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C: жедел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2, 9, 1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F9F4B-589D-451E-B0A9-E1C0C3A8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76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стратегиясы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7D16E-6983-4D91-836B-BF9BF640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 млн теңге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73FF9-BE84-4723-BE0D-4AC7E187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14725"/>
            <a:ext cx="3571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Бұл модельдегі ең қолайсыз нәтиженің өзі осынша болады.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72E8A-AE7E-44BC-82C8-D0A8251E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Шығару жолы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ADC4D-31DA-4346-B787-6FEB8ADA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min(A) = 4     min(B) = 3     min(C) = 1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Енді ең үлкенін аламыз: max(4, 3, 1) = 4.</a:t>
            </a:r>
          </a:p>
        </p:txBody>
      </p:sp>
    </p:spTree>
    <p:extLst>
      <p:ext uri="{BB962C8B-B14F-4D97-AF65-F5344CB8AC3E}">
        <p14:creationId xmlns:p14="http://schemas.microsoft.com/office/powerpoint/2010/main" val="17811887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d83302f6a4f0a"/>
          <a:stretch xmlns:a="http://schemas.openxmlformats.org/drawingml/2006/main"/>
        </p:blipFill>
        <p:spPr>
          <a:xfrm xmlns:a="http://schemas.openxmlformats.org/drawingml/2006/main">
            <a:off x="9906000" y="77391"/>
            <a:ext cx="1809750" cy="95011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38F37-2B6D-4C24-910D-2AD9E003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1-тапсырма. Minimax есебі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7E14D-886E-458B-A3D2-AF77E38C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1D242-63CB-4275-89FC-2A7221D3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Жапырақтардан есептейміз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AB1D7-B597-488B-86FE-83FE6FAB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429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= max(H: 4, I: 9) = 9</a:t>
            </a:r>
          </a:p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 = max(J: 7, K: 2) = 7</a:t>
            </a:r>
          </a:p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 = max(L: 3, M: 8) = 8</a:t>
            </a:r>
          </a:p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 = max(N: 6, O: 1) =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CCEB0-E326-4DD9-9C9B-3B34587D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Содан кейін жоғары көтерілеміз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C1F2F-31BB-434F-BEB7-3C1C81F4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38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 = min(D: 9, E: 7) = 7</a:t>
            </a:r>
          </a:p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 = min(F: 8, G: 6) = 6</a:t>
            </a:r>
          </a:p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= max(B: 7, C: 6) = 7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810500" y="1581150"/>
          <a:ext xmlns:a="http://schemas.openxmlformats.org/drawingml/2006/main" cx="36195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714500"/>
              </a:tblGrid>
              <a:tr h="38814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Түйін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Мәні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</a:tr>
              <a:tr h="3881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81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81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81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81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81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81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1383F-5D30-4961-A8DB-8822FB2F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81575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Тиімді жол</a:t>
            </a:r>
          </a:p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→ B → E → J</a:t>
            </a:r>
          </a:p>
        </p:txBody>
      </p:sp>
    </p:spTree>
    <p:extLst>
      <p:ext uri="{BB962C8B-B14F-4D97-AF65-F5344CB8AC3E}">
        <p14:creationId xmlns:p14="http://schemas.microsoft.com/office/powerpoint/2010/main" val="2599793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c1d23a1d64b61"/>
          <a:stretch xmlns:a="http://schemas.openxmlformats.org/drawingml/2006/main"/>
        </p:blipFill>
        <p:spPr>
          <a:xfrm xmlns:a="http://schemas.openxmlformats.org/drawingml/2006/main">
            <a:off x="9906000" y="77391"/>
            <a:ext cx="1809750" cy="95011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9BCEF-4E37-4B75-B58C-A2D5530A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2-тапсырма. Alpha–Beta: солдан оңға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98E65-79AB-477C-85D1-8E1998CE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7A166-3401-49A3-8FEE-DFA2DBA5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 түйін</a:t>
            </a:r>
          </a:p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қиылған бұтақ жоқ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819400"/>
          <a:ext xmlns:a="http://schemas.openxmlformats.org/drawingml/2006/main" cx="78105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990600"/>
                <a:gridCol w="1085850"/>
                <a:gridCol w="1085850"/>
                <a:gridCol w="1314450"/>
                <a:gridCol w="990600"/>
                <a:gridCol w="127635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Түйін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Түрі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Кіру α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Кіру β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Балалар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Мәні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Қиылған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−∞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B, 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−∞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D, 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−∞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H, 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−∞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J, 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F, 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L,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N, 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7C9A9-8C24-47F5-A52E-F946CF45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Қалай қараймыз?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2A971-B411-4E9B-81AE-DF7D9C55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714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α мен β кіру сәтінде жазылады. MAX α-ны, MIN β-ны жаңартады.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α ≥ β болса, қалған балалар қаралмайды.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FCB00-B1A4-4578-A7E7-22D93EB0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Реті: A → B → D → H → I → E → J → K → C → F → L → M → G → N → O</a:t>
            </a:r>
          </a:p>
        </p:txBody>
      </p:sp>
    </p:spTree>
    <p:extLst>
      <p:ext uri="{BB962C8B-B14F-4D97-AF65-F5344CB8AC3E}">
        <p14:creationId xmlns:p14="http://schemas.microsoft.com/office/powerpoint/2010/main" val="164309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ce336d6b647f7"/>
          <a:stretch xmlns:a="http://schemas.openxmlformats.org/drawingml/2006/main"/>
        </p:blipFill>
        <p:spPr>
          <a:xfrm xmlns:a="http://schemas.openxmlformats.org/drawingml/2006/main">
            <a:off x="9906000" y="77391"/>
            <a:ext cx="1809750" cy="95011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52C7F-42C2-456A-B8CE-52BAB4D6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Alpha–Beta: оңнан солға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1251E-684F-4174-874C-4B2A2D06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56517-424D-4847-86E0-2037DA57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 және H қиылады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F23B0-165B-40EE-A801-3A53C757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31908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 түйінінде</a:t>
            </a:r>
          </a:p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 = 8, сондықтан 8 ≥ 6.</a:t>
            </a:r>
          </a:p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L-ді тексермейміз.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түйінінде</a:t>
            </a:r>
          </a:p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 = 9, сондықтан 9 ≥ 7.</a:t>
            </a:r>
          </a:p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H-ты тексермейміз.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3CC4B-6D36-4F68-965D-673F0698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328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13 түйін, 6 жапырақ</a:t>
            </a:r>
          </a:p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Қиылғандар шақыру</a:t>
            </a:r>
          </a:p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санына кірмейді.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191000" y="2524125"/>
          <a:ext xmlns:a="http://schemas.openxmlformats.org/drawingml/2006/main" cx="73914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952500"/>
                <a:gridCol w="1028700"/>
                <a:gridCol w="1028700"/>
                <a:gridCol w="1190625"/>
                <a:gridCol w="952500"/>
                <a:gridCol w="1190625"/>
              </a:tblGrid>
              <a:tr h="39885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Түйін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Түрі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Кіру α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Кіру β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Балалар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Мәні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Қиылған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−∞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C,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−∞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G, 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−∞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O, 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−∞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E, 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+∞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K, J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9885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0D04A-CF3F-44F2-A7FD-91955738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924550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Реті: A → C → G → O → N → F → M → B → E → K → J → D → I</a:t>
            </a:r>
          </a:p>
        </p:txBody>
      </p:sp>
    </p:spTree>
    <p:extLst>
      <p:ext uri="{BB962C8B-B14F-4D97-AF65-F5344CB8AC3E}">
        <p14:creationId xmlns:p14="http://schemas.microsoft.com/office/powerpoint/2010/main" val="566727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c5939ca6148ce"/>
          <a:stretch xmlns:a="http://schemas.openxmlformats.org/drawingml/2006/main"/>
        </p:blipFill>
        <p:spPr>
          <a:xfrm xmlns:a="http://schemas.openxmlformats.org/drawingml/2006/main">
            <a:off x="9906000" y="77391"/>
            <a:ext cx="1809750" cy="95011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13AB0-3FAA-4755-BE0B-018A8D3D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3-тапсырма. Python нәтижелері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D4FF5-22F9-48C6-BBBE-2F548973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CBE00-3128-46C3-ADC9-1346774B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15 − 13 =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9EB92-8D05-494F-BD7B-A893E242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Оңнан солға өту екі шақыруды үнемдейді.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A6AC7-1ADB-45F7-8BFB-DDE85795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430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Түбірдің мәні: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E6000-9735-42AB-BE53-732364C2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Бағыт өзгергенімен, дұрыс жауап сақталады. Басқа ағашта тиімді бағыт өзгеше болуы мүмкін.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396240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867025"/>
                <a:gridCol w="2867025"/>
              </a:tblGrid>
              <a:tr h="3810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Көрсеткіш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Солдан оңға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Оңнан солға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Minimax мәні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Minimax шақыруы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Alpha–Beta мәні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Alpha–Beta шақыруы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Қиылған түйіндер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Жоқ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L, 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781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5696fc19346fd"/>
          <a:stretch xmlns:a="http://schemas.openxmlformats.org/drawingml/2006/main"/>
        </p:blipFill>
        <p:spPr>
          <a:xfrm xmlns:a="http://schemas.openxmlformats.org/drawingml/2006/main">
            <a:off x="9906000" y="77391"/>
            <a:ext cx="1809750" cy="95011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A38ED-628B-4D04-964D-7AB44555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4-тапсырма. Күйлерді бағалау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6048B-6B5D-42AD-8F9D-224EBC35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1B39D-BA0B-4E32-9D9E-D1563248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Бастапқы таңдау: 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12FEE-626F-45D1-BA16-660AFE13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6.5 &gt; 5.6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324100"/>
          <a:ext xmlns:a="http://schemas.openxmlformats.org/drawingml/2006/main" cx="581025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428750"/>
                <a:gridCol w="1714500"/>
                <a:gridCol w="1619250"/>
              </a:tblGrid>
              <a:tr h="555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Күй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Margin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Reliability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Capacity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B6603-C190-4EAA-BF27-43D12E7A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764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Салмақтар: (0.5, 0.3, 0.2)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2293B-12DC-4F14-806B-2C3F0579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45243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Eval(X) = 0.5 × 8 + 0.3 × 7</a:t>
            </a:r>
          </a:p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+ 0.2 × 2 = 6.5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Eval(Y) = 0.5 × 5 + 0.3 × 5</a:t>
            </a:r>
          </a:p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+ 0.2 × 8 = 5.6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4DE37-251E-44F1-9B8B-35BEB486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Eval(s) = w₁ × Margin + w₂ × Reliability + w₃ × Capacity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2C07E-626D-4A13-BB31-08BA0735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Capacity салмағын 0.5-ке көтереміз. Қалған салмақтарды</a:t>
            </a:r>
          </a:p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 / 0.8 = 0.625 есеге азайтамыз. Сонда w₁ = 0.3125, w₂ = 0.1875.</a:t>
            </a:r>
          </a:p>
        </p:txBody>
      </p:sp>
    </p:spTree>
    <p:extLst>
      <p:ext uri="{BB962C8B-B14F-4D97-AF65-F5344CB8AC3E}">
        <p14:creationId xmlns:p14="http://schemas.microsoft.com/office/powerpoint/2010/main" val="14437322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dc7306d4e455f"/>
          <a:stretch xmlns:a="http://schemas.openxmlformats.org/drawingml/2006/main"/>
        </p:blipFill>
        <p:spPr>
          <a:xfrm xmlns:a="http://schemas.openxmlformats.org/drawingml/2006/main">
            <a:off x="9906000" y="77391"/>
            <a:ext cx="1809750" cy="95011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47996-D2FD-414D-8410-7BE02388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Салмақ өзгерсе, таңдау да өзгереді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31BC9-4CDF-4CAE-BDF9-EF60649E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8CD7D-E789-4E35-BA91-EA794A7A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X күйінің есебі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FD7F4-7C67-4D84-8C1C-12897560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238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0.3125 × 8 + 0.1875 × 7 + 0.5 × 2</a:t>
            </a:r>
          </a:p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2.5 + 1.3125 + 1</a:t>
            </a:r>
          </a:p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4.8125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AA72B-3716-45FF-A35B-ACDBBA66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 күйінің есебі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C16AA-EA9D-496E-986F-62B70802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479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0.3125 × 5 + 0.1875 × 5 + 0.5 × 8</a:t>
            </a:r>
          </a:p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1.5625 + 0.9375 + 4</a:t>
            </a:r>
          </a:p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6.5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3895725"/>
          <a:ext xmlns:a="http://schemas.openxmlformats.org/drawingml/2006/main" cx="10972800" cy="1504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095500"/>
                <a:gridCol w="2095500"/>
                <a:gridCol w="2019300"/>
              </a:tblGrid>
              <a:tr h="501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Салмақтар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Eval(X)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Eval(Y)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Таңдау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0.5, 0.3, 0.2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0.3125, 0.1875, 0.5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4.8125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9C618-5CE9-40AA-87F4-75297DF8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Жауап: Y. Өткізу мүмкіндігі Y-де 8, X-те 2. Осы белгіге көбірек</a:t>
            </a:r>
          </a:p>
          <a:p xmlns:a="http://schemas.openxmlformats.org/drawingml/2006/main">
            <a:pPr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салмақ бергенде Y тиімдірек шығады.</a:t>
            </a:r>
          </a:p>
        </p:txBody>
      </p:sp>
    </p:spTree>
    <p:extLst>
      <p:ext uri="{BB962C8B-B14F-4D97-AF65-F5344CB8AC3E}">
        <p14:creationId xmlns:p14="http://schemas.microsoft.com/office/powerpoint/2010/main" val="1806468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14ef3eff94e8b"/>
          <a:stretch xmlns:a="http://schemas.openxmlformats.org/drawingml/2006/main"/>
        </p:blipFill>
        <p:spPr>
          <a:xfrm xmlns:a="http://schemas.openxmlformats.org/drawingml/2006/main">
            <a:off x="9906000" y="77391"/>
            <a:ext cx="1809750" cy="95011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145E5-970C-4ED6-8DE5-BBFAC72B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Қосымша тапсырма. Expectimax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58E49-81CB-41B7-8427-525EFF40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D576C-7FC2-46BD-BF53-D69D2961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Жауап: B стратегиясы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06B61-E386-4F44-8317-AA990672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Күтілетін пайдасы 5.6 млн теңге. Ал Minimax бастапқы есепте A-ны таңдаған еді.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3257550"/>
          <a:ext xmlns:a="http://schemas.openxmlformats.org/drawingml/2006/main" cx="5715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286000"/>
                <a:gridCol w="2095500"/>
              </a:tblGrid>
              <a:tr h="5476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Стратегия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Ықтималдықтар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Күтілетін пайда</a:t>
                      </a:r>
                    </a:p>
                  </a:txBody>
                  <a:tcPr marL="91440" marR="91440" marT="45720" marB="45720">
                    <a:solidFill>
                      <a:srgbClr val="B9DFF2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0.2, 0.3, 0.5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5.4 млн 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0.2, 0.5, 0.3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5.6 млн 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0.7, 0.2, 0.1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3.3 млн 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87DEC-0AD7-4D16-B556-B7109FD7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76600"/>
            <a:ext cx="46958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0.2 × 8 + 0.3 × 6 + 0.5 × 4 = 5.4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B: 0.2 × 3 + 0.5 × 7 + 0.3 × 5 = 5.6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C: 0.7 × 2 + 0.2 × 9 + 0.1 × 1 = 3.3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BD46C-D36D-40B9-99F5-3F276491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CHANCE: V = Σ pᵢ × V(childᵢ). Ықтималдықтар бастапқы кестенің ретімен.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Minimax ең қолайсыз нәтижені, Expectimax орташа пайданы ескереді.</a:t>
            </a:r>
          </a:p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Күтілетін пайда бір ойындағы нақты нәтижеге кепілдік бермейді.</a:t>
            </a:r>
          </a:p>
        </p:txBody>
      </p:sp>
    </p:spTree>
    <p:extLst>
      <p:ext uri="{BB962C8B-B14F-4D97-AF65-F5344CB8AC3E}">
        <p14:creationId xmlns:p14="http://schemas.microsoft.com/office/powerpoint/2010/main" val="20209447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1624c218f4483"/>
          <a:stretch xmlns:a="http://schemas.openxmlformats.org/drawingml/2006/main"/>
        </p:blipFill>
        <p:spPr>
          <a:xfrm xmlns:a="http://schemas.openxmlformats.org/drawingml/2006/main">
            <a:off x="9906000" y="77391"/>
            <a:ext cx="1809750" cy="95011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B3B09-9549-4558-BCEA-0A72C63E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Ойлануға арналған сұрақтар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D1B2D-5E58-4467-B7C4-0EBF941C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3BD5A-3772-4BF9-A681-349C241A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61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Alpha–Beta неге сол</a:t>
            </a:r>
          </a:p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жауапты береді?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014A0-B693-4BB0-B806-92B50E34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14500"/>
            <a:ext cx="6334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Ол таңдауды жақсарта алмайтын бұтақтарды ғана қияды. Сондықтан түбірдегі Minimax мәні өзгермейді.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C12E6-7EC5-4548-AFD4-5E8C0006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61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Шақыру саны</a:t>
            </a:r>
          </a:p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нені көрсетеді?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6F73C-45F8-4D3A-8DDA-E51A7735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62325"/>
            <a:ext cx="63341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Қанша түйін өңделгенін көрсетеді. Бірақ уақытты, жад шығынын және әр түйінді өңдеу құнын толық сипаттамайды.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47F09-0713-4366-8E7A-4DEF282F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Болжау қарсыласты</a:t>
            </a:r>
          </a:p>
          <a:p xmlns:a="http://schemas.openxmlformats.org/drawingml/2006/main">
            <a:pPr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түсіну деген сөз бе?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C78DB-38F6-4DF8-B78D-F4F50EB5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00625"/>
            <a:ext cx="6334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Әрдайым олай емес. Алгоритм модельге сүйенеді. Дұрыс болжам қарсыластың мақсаты мен мінезін толық түсіндік дегенді білдірмейді.</a:t>
            </a:r>
          </a:p>
        </p:txBody>
      </p:sp>
    </p:spTree>
    <p:extLst>
      <p:ext uri="{BB962C8B-B14F-4D97-AF65-F5344CB8AC3E}">
        <p14:creationId xmlns:p14="http://schemas.microsoft.com/office/powerpoint/2010/main" val="1874988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2026-10-01T17:10:55.0010000Z</dcterms:created>
  <dcterms:modified xsi:type="dcterms:W3CDTF">2026-10-01T17:10:55.0010000Z</dcterms:modified>
</coreProperties>
</file>